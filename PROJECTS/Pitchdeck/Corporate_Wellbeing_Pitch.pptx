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few years ago my cousin called just to catch up. I heard the fatigue but missed that he was slipping into depression. Losing him to suicide fuels this pitch—we are here to make proactive wellbeing non-negotiable.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happened to my family is not an outlier. Every year WHO counts roughly 700,000 people lost to suicide and 12 billion working days written off because depression and anxiety keep people home or barely hanging on. That toll shows up here as rising sick days, burnout, and a trillion-dollar productivity drain.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program tackles the gaps that failed my cousin: prevention via redesigned workloads and better signals, support through always-on confidential care, and growth by equipping every manager to spot shifts and intervene early.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operationalize those pillars we protect people and performance. Deloitte's benchmark shows a 5x return and for us that translates into regained capacity, lower attrition, and sharper client delivery alongside stronger pilot metrics.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startup is how we change the status quo I confronted personally. Approve the 12-week pilot, greenlight the starter budget, and review results next quarter so we can ensure no employee's quiet plea goes unheard.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Personal Loss &amp; Purpose</a:t>
            </a:r>
          </a:p>
        </p:txBody>
      </p:sp>
      <p:sp>
        <p:nvSpPr>
          <p:cNvPr id="3" name="Content Placeholder 2"/>
          <p:cNvSpPr>
            <a:spLocks noGrp="1"/>
          </p:cNvSpPr>
          <p:nvPr>
            <p:ph idx="1"/>
          </p:nvPr>
        </p:nvSpPr>
        <p:spPr/>
        <p:txBody>
          <a:bodyPr/>
          <a:lstStyle/>
          <a:p>
            <a:pPr>
              <a:defRPr sz="2400"/>
            </a:pPr>
            <a:r>
              <a:t>Lost my cousin to undiagnosed depression after a missed plea for help.</a:t>
            </a:r>
          </a:p>
          <a:p>
            <a:pPr>
              <a:defRPr sz="2400"/>
            </a:pPr>
            <a:r>
              <a:t>That loss drives a mission to make proactive wellbeing support non-negotiable.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Cost of Inaction</a:t>
            </a:r>
          </a:p>
        </p:txBody>
      </p:sp>
      <p:sp>
        <p:nvSpPr>
          <p:cNvPr id="3" name="Content Placeholder 2"/>
          <p:cNvSpPr>
            <a:spLocks noGrp="1"/>
          </p:cNvSpPr>
          <p:nvPr>
            <p:ph idx="1"/>
          </p:nvPr>
        </p:nvSpPr>
        <p:spPr/>
        <p:txBody>
          <a:bodyPr/>
          <a:lstStyle/>
          <a:p>
            <a:pPr>
              <a:defRPr sz="2400"/>
            </a:pPr>
            <a:r>
              <a:t>WHO reports ~700K lives lost annually to suicide and 12B working days lost to depression/anxiety.</a:t>
            </a:r>
          </a:p>
          <a:p>
            <a:pPr>
              <a:defRPr sz="2400"/>
            </a:pPr>
            <a:r>
              <a:t>$1T global productivity drain mirrors our rising sick days and burnout signals.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Program Pillars</a:t>
            </a:r>
          </a:p>
        </p:txBody>
      </p:sp>
      <p:sp>
        <p:nvSpPr>
          <p:cNvPr id="3" name="Content Placeholder 2"/>
          <p:cNvSpPr>
            <a:spLocks noGrp="1"/>
          </p:cNvSpPr>
          <p:nvPr>
            <p:ph idx="1"/>
          </p:nvPr>
        </p:nvSpPr>
        <p:spPr/>
        <p:txBody>
          <a:bodyPr/>
          <a:lstStyle/>
          <a:p>
            <a:pPr>
              <a:defRPr sz="2400"/>
            </a:pPr>
            <a:r>
              <a:t>Prevention: redesign workloads and signals so no one suffers silently.</a:t>
            </a:r>
          </a:p>
          <a:p>
            <a:pPr>
              <a:defRPr sz="2400"/>
            </a:pPr>
            <a:r>
              <a:t>Support: 24/7 confidential care ready the moment someone raises a hand.</a:t>
            </a:r>
          </a:p>
          <a:p>
            <a:pPr>
              <a:defRPr sz="2400"/>
            </a:pPr>
            <a:r>
              <a:t>Growth: train managers to spot shifts and intervene early.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Business Impact</a:t>
            </a:r>
          </a:p>
        </p:txBody>
      </p:sp>
      <p:sp>
        <p:nvSpPr>
          <p:cNvPr id="3" name="Content Placeholder 2"/>
          <p:cNvSpPr>
            <a:spLocks noGrp="1"/>
          </p:cNvSpPr>
          <p:nvPr>
            <p:ph idx="1"/>
          </p:nvPr>
        </p:nvSpPr>
        <p:spPr/>
        <p:txBody>
          <a:bodyPr/>
          <a:lstStyle/>
          <a:p>
            <a:pPr>
              <a:defRPr sz="2400"/>
            </a:pPr>
            <a:r>
              <a:t>Deloitte cites a 5x ROI (£5 per £1) for mental-health investments.</a:t>
            </a:r>
          </a:p>
          <a:p>
            <a:pPr>
              <a:defRPr sz="2400"/>
            </a:pPr>
            <a:r>
              <a:t>For us that means regained capacity, lower attrition, and sharper delivery.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 the Status Quo</a:t>
            </a:r>
          </a:p>
        </p:txBody>
      </p:sp>
      <p:sp>
        <p:nvSpPr>
          <p:cNvPr id="3" name="Content Placeholder 2"/>
          <p:cNvSpPr>
            <a:spLocks noGrp="1"/>
          </p:cNvSpPr>
          <p:nvPr>
            <p:ph idx="1"/>
          </p:nvPr>
        </p:nvSpPr>
        <p:spPr/>
        <p:txBody>
          <a:bodyPr/>
          <a:lstStyle/>
          <a:p>
            <a:pPr>
              <a:defRPr sz="2400"/>
            </a:pPr>
            <a:r>
              <a:t>Approve the 12-week pilot and starter budget today.</a:t>
            </a:r>
          </a:p>
          <a:p>
            <a:pPr>
              <a:defRPr sz="2400"/>
            </a:pPr>
            <a:r>
              <a:t>Review KPIs next quarter to greenlight full rollout.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Wellbeing Pitch</dc:title>
  <dc:subject/>
  <dc:creator/>
  <cp:keywords/>
  <dc:description>generated using python-pptx</dc:description>
  <cp:lastModifiedBy>Codex Agent</cp:lastModifiedBy>
  <cp:revision>1</cp:revision>
  <dcterms:created xsi:type="dcterms:W3CDTF">2013-01-27T09:14:16Z</dcterms:created>
  <dcterms:modified xsi:type="dcterms:W3CDTF">2025-11-20T16:55:19Z</dcterms:modified>
  <cp:category/>
</cp:coreProperties>
</file>